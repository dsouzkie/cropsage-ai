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ader_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71600"/>
          </a:xfrm>
          <a:prstGeom prst="rect">
            <a:avLst/>
          </a:prstGeom>
        </p:spPr>
      </p:pic>
      <p:pic>
        <p:nvPicPr>
          <p:cNvPr id="3" name="Image 1" descr="logo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73152"/>
            <a:ext cx="3291840" cy="10515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245352"/>
            <a:ext cx="12191695" cy="841248"/>
          </a:xfrm>
          <a:prstGeom prst="rect">
            <a:avLst/>
          </a:prstGeom>
          <a:solidFill>
            <a:srgbClr val="0A5293"/>
          </a:solidFill>
          <a:ln/>
        </p:spPr>
      </p:sp>
      <p:sp>
        <p:nvSpPr>
          <p:cNvPr id="5" name="Text 1"/>
          <p:cNvSpPr/>
          <p:nvPr/>
        </p:nvSpPr>
        <p:spPr>
          <a:xfrm>
            <a:off x="228600" y="629107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
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 is a nurturing ground for an individual's holistic development to make effective contribution to the society in a dynamic environment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160520" y="629107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
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Excellence and Service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8092440" y="6291072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VALUES
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 in God | Moral Uprightness | Love of Fellow Beings | Social Responsibility | Pursuit of Excellence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Agentic AI-Based Smart Farming System for Crop Disease Detection and Agricultural Productivity Enhancement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ader_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71600"/>
          </a:xfrm>
          <a:prstGeom prst="rect">
            <a:avLst/>
          </a:prstGeom>
        </p:spPr>
      </p:pic>
      <p:pic>
        <p:nvPicPr>
          <p:cNvPr id="3" name="Image 1" descr="logo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73152"/>
            <a:ext cx="3291840" cy="10515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245352"/>
            <a:ext cx="12191695" cy="841248"/>
          </a:xfrm>
          <a:prstGeom prst="rect">
            <a:avLst/>
          </a:prstGeom>
          <a:solidFill>
            <a:srgbClr val="0A5293"/>
          </a:solidFill>
          <a:ln/>
        </p:spPr>
      </p:sp>
      <p:sp>
        <p:nvSpPr>
          <p:cNvPr id="5" name="Text 1"/>
          <p:cNvSpPr/>
          <p:nvPr/>
        </p:nvSpPr>
        <p:spPr>
          <a:xfrm>
            <a:off x="228600" y="629107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
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 is a nurturing ground for an individual's holistic development to make effective contribution to the society in a dynamic environment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160520" y="629107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
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Excellence and Service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8092440" y="6291072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VALUES
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 in God | Moral Uprightness | Love of Fellow Beings | Social Responsibility | Pursuit of Excellence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080" y="1600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822960" y="2286000"/>
            <a:ext cx="10515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 agentic AI-driven system that autonomously detects crop diseases from leaf images using deep learning and computer vision.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enable multi-step, tool-using AI agents that reason over image, sensor, and environmental data for accurate diagnosis.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 intelligent, context-aware farming recommendations such as fertilizers, pesticides, and irrigation based on detected conditions.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 farmer-friendly web/mobile interface for real-time disease alerts and actionable guidance.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enhance overall agricultural productivity and sustainability through automated, data-driven decision-making.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ader_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71600"/>
          </a:xfrm>
          <a:prstGeom prst="rect">
            <a:avLst/>
          </a:prstGeom>
        </p:spPr>
      </p:pic>
      <p:pic>
        <p:nvPicPr>
          <p:cNvPr id="3" name="Image 1" descr="logo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73152"/>
            <a:ext cx="3291840" cy="10515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245352"/>
            <a:ext cx="12191695" cy="841248"/>
          </a:xfrm>
          <a:prstGeom prst="rect">
            <a:avLst/>
          </a:prstGeom>
          <a:solidFill>
            <a:srgbClr val="0A5293"/>
          </a:solidFill>
          <a:ln/>
        </p:spPr>
      </p:sp>
      <p:sp>
        <p:nvSpPr>
          <p:cNvPr id="5" name="Text 1"/>
          <p:cNvSpPr/>
          <p:nvPr/>
        </p:nvSpPr>
        <p:spPr>
          <a:xfrm>
            <a:off x="228600" y="629107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
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 is a nurturing ground for an individual's holistic development to make effective contribution to the society in a dynamic environment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160520" y="629107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
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Excellence and Service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8092440" y="6291072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VALUES
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 in God | Moral Uprightness | Love of Fellow Beings | Social Responsibility | Pursuit of Excellence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080" y="1600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 (1 of 2)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48840"/>
          <a:ext cx="11457432" cy="3977640"/>
        </p:xfrm>
        <a:graphic>
          <a:graphicData uri="http://schemas.openxmlformats.org/drawingml/2006/table">
            <a:tbl>
              <a:tblPr/>
              <a:tblGrid>
                <a:gridCol w="594360"/>
                <a:gridCol w="2514600"/>
                <a:gridCol w="2606040"/>
                <a:gridCol w="2514600"/>
                <a:gridCol w="2999232"/>
              </a:tblGrid>
              <a:tr h="5682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Ref. No.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Paper Title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Agenda / Objective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Tools / Technologies Used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Research Gap Identified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293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Systematic Study: Implication of Deep Learning in Plant Disease Detection (IEEE, 2022)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and analyze deep learning techniques for plant disease detection.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CNN, Deep Learning Models, Image Processing, PlantVillage Dataset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Focuses on disease classification only; lacks IoT integration, autonomous decision-making, and real-time farm deployment.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 and Deep Learning for Plant Disease Classification and Detection (IEEE Access, 2023)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ML and DL methods for accurate plant disease identification in precision agriculture.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CNN, Transfer Learning, Machine Learning, Deep Learning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intelligent recommendation engine or agent-based decision support for farmers.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IoT and Machine Learning Solutions for Precision Farming: Crop Recommendation and Leaf Disease Diagnosis (IEEE, 2024)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crop recommendation and leaf disease diagnosis using IoT and ML.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Sensors, ThingSpeak Cloud, ResNet, Random Forest, XGBoost, Python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Lacks Agentic AI for autonomous planning, reasoning, and adaptive farm management.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Leaf Disease Detection Using Ensemble Learning and Explainable AI (IEEE Access, 2024)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disease detection accuracy and explain model predictions.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Learning, Explainable AI (XAI), CNN Models, Computer Vision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Focuses only on disease detection; does not provide productivity enhancement or automated intervention strategies.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Approach of Cotton Disease Detection for Enhanced Crop Health and Yield (IEEE Access, 2024)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cotton crop diseases and improve crop health and yield.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Learning, Ensemble Models, Image Processing, Deep Learning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to a single crop (cotton); lacks multi-crop support, IoT integration, and autonomous agent-based recommendations.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AI-Driven Pest Control and Disease Detection in Smart Farming Systems (Springer AI2SD, 2025)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ML, computer vision and IoT sensors for real-time pest/disease detection and automated response.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Learning, Computer Vision, IoT Sensors, Predictive Analytics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Framework-level proposal; lacks autonomous multi-agent decision-making and field-scale validation.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ader_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71600"/>
          </a:xfrm>
          <a:prstGeom prst="rect">
            <a:avLst/>
          </a:prstGeom>
        </p:spPr>
      </p:pic>
      <p:pic>
        <p:nvPicPr>
          <p:cNvPr id="3" name="Image 1" descr="logo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73152"/>
            <a:ext cx="3291840" cy="10515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245352"/>
            <a:ext cx="12191695" cy="841248"/>
          </a:xfrm>
          <a:prstGeom prst="rect">
            <a:avLst/>
          </a:prstGeom>
          <a:solidFill>
            <a:srgbClr val="0A5293"/>
          </a:solidFill>
          <a:ln/>
        </p:spPr>
      </p:sp>
      <p:sp>
        <p:nvSpPr>
          <p:cNvPr id="5" name="Text 1"/>
          <p:cNvSpPr/>
          <p:nvPr/>
        </p:nvSpPr>
        <p:spPr>
          <a:xfrm>
            <a:off x="228600" y="629107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
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 is a nurturing ground for an individual's holistic development to make effective contribution to the society in a dynamic environment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160520" y="629107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
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Excellence and Service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8092440" y="6291072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VALUES
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 in God | Moral Uprightness | Love of Fellow Beings | Social Responsibility | Pursuit of Excellence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080" y="1600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 (2 of 2)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48840"/>
          <a:ext cx="11457432" cy="3977640"/>
        </p:xfrm>
        <a:graphic>
          <a:graphicData uri="http://schemas.openxmlformats.org/drawingml/2006/table">
            <a:tbl>
              <a:tblPr/>
              <a:tblGrid>
                <a:gridCol w="594360"/>
                <a:gridCol w="2514600"/>
                <a:gridCol w="2606040"/>
                <a:gridCol w="2514600"/>
                <a:gridCol w="2999232"/>
              </a:tblGrid>
              <a:tr h="5682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Ref. No.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Paper Title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Agenda / Objective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Tools / Technologies Used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Research Gap Identified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293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PDD-Agent: Multimodal LLM-Driven AI Agent for Plant Disease Diagnosis (IEEE ICIP, 2025)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a multimodal LLM-based AI agent to improve diagnosis accuracy and reasoning.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LLM, Agentic AI Architecture, Image-Text Reasoning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reasoning shown for diagnosis only; not linked to productivity or farm-management actions.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[8]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SAGE: Scalable Agentic Grounded Evaluation for Crop Disease Diagnosis (arXiv, 2026)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 a symptom-grounded dataset and an autonomous visual-reasoning agent for training-free diagnosis.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Vision-Language Models, Agentic Reasoning Pipeline, Symptom Knowledge Base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 on diagnosis benchmarking; no IoT sensing or farm-level recommendation delivery.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[9]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AgriSentinel: Privacy-Enhanced Embedded-LLM Crop Disease Alerting System (ACM IH&amp;MMSec, 2025)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privacy-preserving, on-device LLM-based disease alerts with actionable suggestions.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Embedded/On-Device LLM, Differential Privacy, Lightweight CNN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Prioritizes privacy and alerting; limited productivity optimization or multi-agent management.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AI-IoT Based Smart Agriculture Pivot for Plant Disease Detection &amp; Treatment (Scientific Reports, 2025)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a deep learning model with an IoT-enabled pivot to detect and treat diseases automatically.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ResNet50, IoT Hardware Pivot, Raspberry Pi Controller, Mobile App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Hardware-centric solution; lacks agentic reasoning or broader productivity-focused advice.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CropGuard: AI-Driven Plant Disease Detection Chatbot (IJISAE, 2024)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 disease detection and farmer guidance through an AI-driven chatbot interface.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Classifier, Conversational AI / Chatbot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interface only; no autonomous agent-based decision-making or sensor integration.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[12]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and IoT-Powered Edge Device for Crop Pest and Disease Detection (Scientific Reports, 2025)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a lightweight CNN on a portable edge device for real-time detection in resource-constrained farms.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Tiny-LiteNet CNN, Raspberry Pi 5 Edge Device, GSM/GPRS Module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textual guidance only; no dynamic agentic reasoning or LLM-based recommendations.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ader_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71600"/>
          </a:xfrm>
          <a:prstGeom prst="rect">
            <a:avLst/>
          </a:prstGeom>
        </p:spPr>
      </p:pic>
      <p:pic>
        <p:nvPicPr>
          <p:cNvPr id="3" name="Image 1" descr="logo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73152"/>
            <a:ext cx="3291840" cy="10515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245352"/>
            <a:ext cx="12191695" cy="841248"/>
          </a:xfrm>
          <a:prstGeom prst="rect">
            <a:avLst/>
          </a:prstGeom>
          <a:solidFill>
            <a:srgbClr val="0A5293"/>
          </a:solidFill>
          <a:ln/>
        </p:spPr>
      </p:sp>
      <p:sp>
        <p:nvSpPr>
          <p:cNvPr id="5" name="Text 1"/>
          <p:cNvSpPr/>
          <p:nvPr/>
        </p:nvSpPr>
        <p:spPr>
          <a:xfrm>
            <a:off x="228600" y="629107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
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 is a nurturing ground for an individual's holistic development to make effective contribution to the society in a dynamic environment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160520" y="629107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
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Excellence and Service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8092440" y="6291072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VALUES
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 in God | Moral Uprightness | Love of Fellow Beings | Social Responsibility | Pursuit of Excellence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080" y="1600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REFERENCES  (1 of 2)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11274552" cy="3977640"/>
        </p:xfrm>
        <a:graphic>
          <a:graphicData uri="http://schemas.openxmlformats.org/drawingml/2006/table">
            <a:tbl>
              <a:tblPr/>
              <a:tblGrid>
                <a:gridCol w="822960"/>
                <a:gridCol w="10451592"/>
              </a:tblGrid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Ref. No.</a:t>
                      </a:r>
                      <a:endParaRPr lang="en-US" sz="11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IEEE Citation</a:t>
                      </a:r>
                      <a:endParaRPr lang="en-US" sz="11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293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</a:rPr>
                        <a:t>[1]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</a:rPr>
                        <a:t>A. Bonkra, P. Dhiman, S. Goyal, and N. Gupta, "A Systematic Study: Implication of Deep Learning in Plant Disease Detection," 2022 IEEE Int. Conf. Current Development in Engineering and Technology (CCET), 2022.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</a:rPr>
                        <a:t>[2]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</a:rPr>
                        <a:t>V. Balafas, E. Karantoumanis, M. Louta, and N. Ploskas, "Machine Learning and Deep Learning for Plant Disease Classification and Detection," IEEE Access, vol. 11, 2023.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</a:rPr>
                        <a:t>[3]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</a:rPr>
                        <a:t>S. R. et al., "Integrated IoT and Machine Learning Solutions for Precision Farming: Crop Recommendation and Leaf Disease Diagnosis," 2024 8th Int. Conf. IoT in Social, Mobile, Analytics and Cloud (I-SMAC), 2024.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</a:rPr>
                        <a:t>[4]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</a:rPr>
                        <a:t>A. Oad et al., "Plant Leaf Disease Detection Using Ensemble Learning and Explainable AI," IEEE Access, vol. 12, pp. 156038–156049, 2024.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</a:rPr>
                        <a:t>[5]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</a:rPr>
                        <a:t>M. A. Khan et al., "Hybrid Approach of Cotton Disease Detection for Enhanced Crop Health and Yield," IEEE Access, vol. 12, 2024.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</a:rPr>
                        <a:t>[6]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</a:rPr>
                        <a:t>S. Rekiek, H. Jebari, M. Ezziyyani, and L. Cherrat, "AI-Driven Pest Control and Disease Detection in Smart Farming Systems," Proc. AI2SD 2024, Lecture Notes in Networks and Systems, vol. 1403, Springer, Cham, 2025.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ader_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71600"/>
          </a:xfrm>
          <a:prstGeom prst="rect">
            <a:avLst/>
          </a:prstGeom>
        </p:spPr>
      </p:pic>
      <p:pic>
        <p:nvPicPr>
          <p:cNvPr id="3" name="Image 1" descr="logo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73152"/>
            <a:ext cx="3291840" cy="10515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245352"/>
            <a:ext cx="12191695" cy="841248"/>
          </a:xfrm>
          <a:prstGeom prst="rect">
            <a:avLst/>
          </a:prstGeom>
          <a:solidFill>
            <a:srgbClr val="0A5293"/>
          </a:solidFill>
          <a:ln/>
        </p:spPr>
      </p:sp>
      <p:sp>
        <p:nvSpPr>
          <p:cNvPr id="5" name="Text 1"/>
          <p:cNvSpPr/>
          <p:nvPr/>
        </p:nvSpPr>
        <p:spPr>
          <a:xfrm>
            <a:off x="228600" y="629107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
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 is a nurturing ground for an individual's holistic development to make effective contribution to the society in a dynamic environment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160520" y="629107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
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Excellence and Service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8092440" y="6291072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VALUES
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 in God | Moral Uprightness | Love of Fellow Beings | Social Responsibility | Pursuit of Excellence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080" y="1600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REFERENCES  (2 of 2)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11274552" cy="3977640"/>
        </p:xfrm>
        <a:graphic>
          <a:graphicData uri="http://schemas.openxmlformats.org/drawingml/2006/table">
            <a:tbl>
              <a:tblPr/>
              <a:tblGrid>
                <a:gridCol w="822960"/>
                <a:gridCol w="10451592"/>
              </a:tblGrid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Ref. No.</a:t>
                      </a:r>
                      <a:endParaRPr lang="en-US" sz="11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IEEE Citation</a:t>
                      </a:r>
                      <a:endParaRPr lang="en-US" sz="11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293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</a:rPr>
                        <a:t>[7]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</a:rPr>
                        <a:t>L. Qin, X. Wu, X. Dong, H. Wang, T. Yang, and Q. Wang, "PDD-Agent: Multimodal LLM-Driven AI Agent for Enhanced Plant Disease Diagnosis," 2025 IEEE Int. Conf. Image Processing (ICIP), pp. 1271–1276, 2025.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</a:rPr>
                        <a:t>[8]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</a:rPr>
                        <a:t>M. A. Arshad et al., "SAGE: Scalable Agentic Grounded Evaluation for Crop Disease Diagnosis," Iowa State University &amp; New York University, arXiv preprint, 2026.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</a:rPr>
                        <a:t>[9]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</a:rPr>
                        <a:t>H. Xu, C. R. Mylay, T. Choi, B. Deng, and Z. Cai, "AgriSentinel: Privacy-Enhanced Embedded-LLM Crop Disease Alerting System," Proc. 13th ACM Workshop on Information Hiding and Multimedia Security (IH&amp;MMSec '25), 2025.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</a:rPr>
                        <a:t>[10]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</a:rPr>
                        <a:t>A. S. Ibrahim, S. Mohsen, I. M. Selim, R. Alroobaea, M. Alsafyani, A. M. Baqasah, and M. Eassa, "AI-IoT Based Smart Agriculture Pivot for Plant Diseases Detection and Treatment," Scientific Reports, vol. 15, art. 16576, 2025.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</a:rPr>
                        <a:t>[11]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</a:rPr>
                        <a:t>S. Kothari, P. Bagane, M. Mishra, S. Kulshrestha, Y. Asrani, and V. Maheswari, "CropGuard: Empowering Agriculture with AI Driven Plant Disease Detection Chatbot," Int. J. Intelligent Systems and Applications in Engineering, vol. 12, no. 12s, pp. 530–537, 2024.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</a:rPr>
                        <a:t>[12]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</a:rPr>
                        <a:t>J. P. Nyakuri, C. Nkundineza, O. Gatera, K. Nkurikiyeyezu, and G. Mwitende, "AI and IoT-Powered Edge Device Optimized for Crop Pest and Disease Detection," Scientific Reports, vol. 15, art. 22905, 2025.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2026-07-11T04:14:26Z</dcterms:created>
  <dcterms:modified xsi:type="dcterms:W3CDTF">2026-07-11T04:14:26Z</dcterms:modified>
</cp:coreProperties>
</file>